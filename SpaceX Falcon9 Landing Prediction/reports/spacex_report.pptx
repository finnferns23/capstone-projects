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Rocket family visual derived from Falcon9_rocket_family.svg downloaded from the IBM Skills Network course assets in this workspace.
- Project scope and terminology synthesized from the user-uploaded IBM course notebooks and the Final Project Overview text shared in chat.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Statistics and timeline chart derived from dataset_part_1.csv and the user-uploaded Data Wrangling / EDA notebooks in this workspace.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Project framing is based on the user-uploaded IBM Applied Data Science Capstone notebooks and the Final Project Overview text shared in chat.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Methodology comes from the user-uploaded API, Web Scraping, Data Wrangling, SQL, map, dashboard, and machine-learning notebooks.
- Launch counts and data-asset sizes derived from dataset_part_1.csv, Spacex.csv, spacex_launch_geo.csv, and spacex_launch_dash.csv in this workspace.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Class-label logic derived from the user-uploaded Data Wrangling notebook and dataset_part_1.csv.
- Pie chart derived from the locally generated wrangling output in this workspace.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Scatter plot derived from dataset_part_1.csv after applying the Data Wrangling notebook logic.
- Methodology sequence synthesized from the user-uploaded EDA, SQL, map, dashboard, and machine-learning notebooks.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Both charts derived from dataset_part_1.csv after applying the class-label logic from the Data Wrangling notebook.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SQL insights derived from Spacex.csv and the user-uploaded EDA with SQL notebook in this workspace.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Map visual derived from spacex_launch_geo.csv and the user-uploaded Folium notebook; slide summarizes the map-focused findings rather than a live interactive map.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Dashboard view derived from spacex_launch_dash.csv and the user-uploaded Plotly Dash notebook and dashboard PDF in this workspace.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Methodology derived from the user-uploaded Machine Learning Prediction notebook and the locally generated feature matrix based on dataset_part_1.csv.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Model chart blends locally rerun validation results with the course notebook benchmark discussed throughout the conversation and reflected in the user-uploaded ML notebook context.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Conclusions synthesize the data and model outputs derived from the user-uploaded capstone notebooks and local dataset files in this workspace.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Checklist wording based on the Final Project Overview text supplied by the user in chat.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Data Science Capstone | SpaceX Falcon 9 Landing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49840" y="731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Finnred Fernandes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SpaceX Falcon 9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Success Prediction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BFE"/>
                </a:solidFill>
              </a:rPr>
              <a:t>Applied Data Science Capstone final report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Finnred Fernandes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3200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An end-to-end analysis covering data collection, wrangling, SQL, interactive visual analytics, dashboards, and machine learning.</a:t>
            </a:r>
            <a:endParaRPr lang="en-US" sz="1600" dirty="0"/>
          </a:p>
        </p:txBody>
      </p:sp>
      <p:pic>
        <p:nvPicPr>
          <p:cNvPr id="7" name="Image 0" descr="/mnt/data/Falcon9_rocket_fam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65350"/>
            <a:ext cx="4754880" cy="265297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8978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Key outputs: 90 launches analyzed • 67% success rate • 80 engineered features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capstone combined historical SpaceX launch data, visual analytics, and classification models to understand and predict first-stage landing success.</a:t>
            </a:r>
            <a:endParaRPr lang="en-US" sz="113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470916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working dataset contains 90 Falcon 9 launches, 3 launch sites, and 11 orbit classes after cleaning and target-label creation.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success improved over time and was strongest at KSC LC-39A and VAFB SLC 4E, while GTO missions remained the most challenging.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analytics (Folium + Dash) made the findings easy to explore, while machine learning turned the insights into a predictive workflow.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90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4370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475569"/>
                </a:solidFill>
              </a:rPr>
              <a:t>Falcon 9 launches analyzed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2331720" y="3931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67%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331720" y="43708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475569"/>
                </a:solidFill>
              </a:rPr>
              <a:t>overall landing success</a:t>
            </a:r>
            <a:endParaRPr lang="en-US" sz="1170" dirty="0"/>
          </a:p>
        </p:txBody>
      </p:sp>
      <p:sp>
        <p:nvSpPr>
          <p:cNvPr id="9" name="Text 7"/>
          <p:cNvSpPr/>
          <p:nvPr/>
        </p:nvSpPr>
        <p:spPr>
          <a:xfrm>
            <a:off x="3840480" y="3931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80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0" y="4370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475569"/>
                </a:solidFill>
              </a:rPr>
              <a:t>one-hot encoded features</a:t>
            </a:r>
            <a:endParaRPr lang="en-US" sz="1170" dirty="0"/>
          </a:p>
        </p:txBody>
      </p:sp>
      <p:pic>
        <p:nvPicPr>
          <p:cNvPr id="11" name="Image 0" descr="/mnt/data/pres_assets/launch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980980"/>
            <a:ext cx="5303520" cy="3307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89320" y="54406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The number of launches rose sharply in 2017-2020, creating a richer learning signal for both descriptive and predictive analysis.</a:t>
            </a:r>
            <a:endParaRPr lang="en-US" sz="12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 and analytical workflow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SpaceX advertises reusable launches at a lower price point, so accurately understanding landing success matters for cost, cadence, and mission planning.</a:t>
            </a:r>
            <a:endParaRPr lang="en-US" sz="1130" dirty="0"/>
          </a:p>
        </p:txBody>
      </p:sp>
      <p:sp>
        <p:nvSpPr>
          <p:cNvPr id="4" name="Text 2"/>
          <p:cNvSpPr/>
          <p:nvPr/>
        </p:nvSpPr>
        <p:spPr>
          <a:xfrm>
            <a:off x="749808" y="1417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700784"/>
            <a:ext cx="43434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Predict whether the Falcon 9 first stage lands successfully and explain the operational patterns that drive that outcome.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44805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successful landing lowers the cost of reusing boosters and improves future launch economics.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Operationally, launch site, orbit, and payload affect the probability of a controlled return.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9808" y="4892040"/>
            <a:ext cx="425196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138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Final report structure mirrors the IBM capstone rubric: methodology + results for collection, wrangling, EDA, SQL, map, dashboard, and predictive analysis.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9008" y="14447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72200" y="144475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Collect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33872" y="1719072"/>
            <a:ext cx="18562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SpaceX API, Wikipedia scraping, and course CSVs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9288" y="14447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144475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Wrangle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74152" y="1719072"/>
            <a:ext cx="18562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Clean fields, handle nulls, build class labels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149840" y="13716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59568" y="14447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652760" y="14447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EDA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314432" y="1719072"/>
            <a:ext cx="10332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Charts and SQL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28803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2953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95160" y="295351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Interactive analytics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56832" y="3227832"/>
            <a:ext cx="222199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Folium mapping and Plotly Dash filters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89720" y="288036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9448" y="2953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92640" y="29535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Modeling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54312" y="3227832"/>
            <a:ext cx="19476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Feature engineering, scaling, train/test split, GridSearchCV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92240" y="438912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6451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Decision support outcome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20840" y="49560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A technically detailed report that explains historical patterns, shows interactive outputs, and demonstrates a predictive model for landing success.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collection methodology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assembled launch information from multiple sources so the later visual and predictive steps all used the same SpaceX mission context.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49047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904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SpaceX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1764792"/>
            <a:ext cx="28620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Historical launches plus related fields such as rocket, payload, core, and launchpad metadata.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56032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63347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6334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Wikipedia scraping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1832" y="2907792"/>
            <a:ext cx="28620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Falcon 9 / Falcon Heavy launch tables parsed with BeautifulSoup for additional launch-record context.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77647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7764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Course data assets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" y="4050792"/>
            <a:ext cx="28620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Curated CSVs used for EDA, Folium, Dash, SQL, and machine learning sections of the capstone.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983480"/>
            <a:ext cx="3154680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521208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Unified result: one Falcon 9 analysis dataset with 17 core fields before label creation and feature engineering.</a:t>
            </a:r>
            <a:endParaRPr lang="en-US" sz="1320" dirty="0"/>
          </a:p>
        </p:txBody>
      </p:sp>
      <p:pic>
        <p:nvPicPr>
          <p:cNvPr id="18" name="Image 0" descr="/mnt/data/pres_assets/launch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51216"/>
            <a:ext cx="3657600" cy="2281048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1417320"/>
          <a:ext cx="31089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91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</a:rPr>
                        <a:t>Data asset</a:t>
                      </a:r>
                      <a:endParaRPr lang="en-US" sz="112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</a:rPr>
                        <a:t>Rows / purpose</a:t>
                      </a:r>
                      <a:endParaRPr lang="en-US" sz="112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11827"/>
                          </a:solidFill>
                        </a:rPr>
                        <a:t>dataset_part_1.csv</a:t>
                      </a:r>
                      <a:endParaRPr lang="en-US" sz="112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11827"/>
                          </a:solidFill>
                        </a:rPr>
                        <a:t>90 launches, 17 columns, core launch records</a:t>
                      </a:r>
                      <a:endParaRPr lang="en-US" sz="112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11827"/>
                          </a:solidFill>
                        </a:rPr>
                        <a:t>Spacex.csv</a:t>
                      </a:r>
                      <a:endParaRPr lang="en-US" sz="112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11827"/>
                          </a:solidFill>
                        </a:rPr>
                        <a:t>101 rows, SQL practice and aggregation queries</a:t>
                      </a:r>
                      <a:endParaRPr lang="en-US" sz="112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11827"/>
                          </a:solidFill>
                        </a:rPr>
                        <a:t>spacex_launch_geo.csv</a:t>
                      </a:r>
                      <a:endParaRPr lang="en-US" sz="112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11827"/>
                          </a:solidFill>
                        </a:rPr>
                        <a:t>56 rows, map coordinates + class labels</a:t>
                      </a:r>
                      <a:endParaRPr lang="en-US" sz="112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11827"/>
                          </a:solidFill>
                        </a:rPr>
                        <a:t>spacex_launch_dash.csv</a:t>
                      </a:r>
                      <a:endParaRPr lang="en-US" sz="112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11827"/>
                          </a:solidFill>
                        </a:rPr>
                        <a:t>56 rows, interactive dashboard data</a:t>
                      </a:r>
                      <a:endParaRPr lang="en-US" sz="112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8302752" y="12252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</a:rPr>
              <a:t>Collection outputs used throughout the capstone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4526280" y="38221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475569"/>
                </a:solidFill>
              </a:rPr>
              <a:t>The launch count accelerates after 2016, which is why later years dominate the visual trend lines and model training signal.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wrangling methodology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Wrangling turned raw launch outcomes into a supervised-learning target and prepared the data for consistent analysis across notebooks.</a:t>
            </a:r>
            <a:endParaRPr lang="en-US" sz="1130" dirty="0"/>
          </a:p>
        </p:txBody>
      </p:sp>
      <p:pic>
        <p:nvPicPr>
          <p:cNvPr id="4" name="Image 0" descr="/mnt/data/pres_assets/label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82127"/>
            <a:ext cx="3886200" cy="26937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83480" y="1417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Main wrangling steps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937760" y="1700784"/>
            <a:ext cx="621792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5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the binary target variable Class: successful outcomes mapped to 1 and failed / attempted outcomes mapped to 0.</a:t>
            </a:r>
            <a:endParaRPr lang="en-US" sz="1570" dirty="0"/>
          </a:p>
          <a:p>
            <a:pPr marL="203200" indent="-203200">
              <a:buSzPct val="100000"/>
              <a:buChar char="•"/>
            </a:pPr>
            <a:r>
              <a:rPr lang="en-US" sz="15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launch-site and orbit distributions and preserved the numeric fields required later for visualization and machine learning.</a:t>
            </a:r>
            <a:endParaRPr lang="en-US" sz="1570" dirty="0"/>
          </a:p>
          <a:p>
            <a:pPr marL="203200" indent="-203200">
              <a:buSzPct val="100000"/>
              <a:buChar char="•"/>
            </a:pPr>
            <a:r>
              <a:rPr lang="en-US" sz="15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Retained 90 Falcon 9 records and used the course-defined outcome rules so quiz answers and later labs stay consistent.</a:t>
            </a:r>
            <a:endParaRPr lang="en-US" sz="1570" dirty="0"/>
          </a:p>
        </p:txBody>
      </p:sp>
      <p:sp>
        <p:nvSpPr>
          <p:cNvPr id="7" name="Shape 4"/>
          <p:cNvSpPr/>
          <p:nvPr/>
        </p:nvSpPr>
        <p:spPr>
          <a:xfrm>
            <a:off x="4983480" y="3657600"/>
            <a:ext cx="288036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93792" y="38587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Examples of successful outcomes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193792" y="41330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A34A"/>
                </a:solidFill>
              </a:rPr>
              <a:t>True ASDS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6A34A"/>
                </a:solidFill>
              </a:rPr>
              <a:t>True RTLS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6A34A"/>
                </a:solidFill>
              </a:rPr>
              <a:t>True Ocean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0" y="3657600"/>
            <a:ext cx="2880360" cy="1417320"/>
          </a:xfrm>
          <a:prstGeom prst="roundRect">
            <a:avLst>
              <a:gd name="adj" fmla="val 387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30768" y="38587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Mapped to the failure class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430768" y="4133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DC2626"/>
                </a:solidFill>
              </a:rPr>
              <a:t>False Ocean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C2626"/>
                </a:solidFill>
              </a:rPr>
              <a:t>False ASDS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C2626"/>
                </a:solidFill>
              </a:rPr>
              <a:t>False RTLS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C2626"/>
                </a:solidFill>
              </a:rPr>
              <a:t>None ASDS / None None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5010912" y="54406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Resulting class balance: 60 successful vs 30 failed launches, or roughly a 2:1 split.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and interactive visual analytics methodology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analytical questions progressed from descriptive plots to SQL, geospatial analysis, and dashboard interactions.</a:t>
            </a:r>
            <a:endParaRPr lang="en-US" sz="1130" dirty="0"/>
          </a:p>
        </p:txBody>
      </p:sp>
      <p:pic>
        <p:nvPicPr>
          <p:cNvPr id="4" name="Image 0" descr="/mnt/data/pres_assets/payload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40064"/>
            <a:ext cx="5486400" cy="34864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46520" y="14173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Questions answered during EDA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0" y="1737360"/>
            <a:ext cx="475488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did landing performance change as SpaceX flew more missions and carried heavier payloads?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launch sites and orbit classes were most associated with successful returns?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complementary views could SQL, Folium, and Dash add beyond static charts?</a:t>
            </a:r>
            <a:endParaRPr lang="en-US" sz="1580" dirty="0"/>
          </a:p>
        </p:txBody>
      </p:sp>
      <p:sp>
        <p:nvSpPr>
          <p:cNvPr id="7" name="Shape 4"/>
          <p:cNvSpPr/>
          <p:nvPr/>
        </p:nvSpPr>
        <p:spPr>
          <a:xfrm>
            <a:off x="6446520" y="36576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373075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1112" y="4005072"/>
            <a:ext cx="10332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Matplotlib / seaborn plots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01000" y="36576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65592" y="373075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65592" y="4005072"/>
            <a:ext cx="10332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SQLite query views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555480" y="36576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20072" y="373075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720072" y="4005072"/>
            <a:ext cx="10332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Folium map layer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1109960" y="3657600"/>
            <a:ext cx="822960" cy="91440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274552" y="373075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274552" y="4005072"/>
            <a:ext cx="5303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Dash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818120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372600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927080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446520" y="4983480"/>
            <a:ext cx="4937760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56832" y="52303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The scatter plot immediately shows why EDA mattered: payload alone does not determine success; trajectory and operational context matter too.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with visualization results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and orbit views surfaced the main historical patterns before moving into SQL and interactive tools.</a:t>
            </a:r>
            <a:endParaRPr lang="en-US" sz="1130" dirty="0"/>
          </a:p>
        </p:txBody>
      </p:sp>
      <p:pic>
        <p:nvPicPr>
          <p:cNvPr id="4" name="Image 0" descr="/mnt/data/pres_assets/site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6649"/>
            <a:ext cx="5486400" cy="3187581"/>
          </a:xfrm>
          <a:prstGeom prst="rect">
            <a:avLst/>
          </a:prstGeom>
        </p:spPr>
      </p:pic>
      <p:pic>
        <p:nvPicPr>
          <p:cNvPr id="5" name="Image 1" descr="/mnt/data/pres_assets/orbit_suc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75739"/>
            <a:ext cx="5212080" cy="30894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" y="5650992"/>
            <a:ext cx="10744200" cy="566928"/>
          </a:xfrm>
          <a:prstGeom prst="roundRect">
            <a:avLst>
              <a:gd name="adj" fmla="val 967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51560" y="5824728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Key finding: KSC LC-39A and VAFB SLC 4E delivered about 77% success, while VLEO / SSO / GEO-class missions were more favorable than GTO missions.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with SQL results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provided a compact way to validate site counts, payload summaries, and landing milestones directly from tabular mission records.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154680" cy="4526280"/>
          </a:xfrm>
          <a:prstGeom prst="roundRect">
            <a:avLst>
              <a:gd name="adj" fmla="val 173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27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Representative query pattern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01168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Launch_Site, COUNT(Mission_Outcome)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mission_outcome_count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SPACEXTBL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Launch_Site;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Why SQL added value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913632"/>
            <a:ext cx="260604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validation of payload and site-level summaries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grouping for mission outcomes and filtered subsets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reproducible bridge between raw records and later visuals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4617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</a:rPr>
                        <a:t>Query insight</a:t>
                      </a:r>
                      <a:endParaRPr lang="en-US" sz="122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2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</a:rPr>
                        <a:t>Distinct launch sites</a:t>
                      </a:r>
                      <a:endParaRPr lang="en-US" sz="122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</a:rPr>
                        <a:t>CCAFS LC-40, CCAFS SLC-40, KSC LC-39A, VAFB SLC-4E</a:t>
                      </a:r>
                      <a:endParaRPr lang="en-US" sz="122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</a:rPr>
                        <a:t>Total NASA CRS payload</a:t>
                      </a:r>
                      <a:endParaRPr lang="en-US" sz="122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</a:rPr>
                        <a:t>48,213 kg</a:t>
                      </a:r>
                      <a:endParaRPr lang="en-US" sz="122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</a:rPr>
                        <a:t>Average payload (F9 v1.1)</a:t>
                      </a:r>
                      <a:endParaRPr lang="en-US" sz="122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</a:rPr>
                        <a:t>2,928 kg</a:t>
                      </a:r>
                      <a:endParaRPr lang="en-US" sz="122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</a:rPr>
                        <a:t>First successful ground-pad landing</a:t>
                      </a:r>
                      <a:endParaRPr lang="en-US" sz="122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</a:rPr>
                        <a:t>2015-12-22</a:t>
                      </a:r>
                      <a:endParaRPr lang="en-US" sz="122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</a:rPr>
                        <a:t>Mission outcomes by site</a:t>
                      </a:r>
                      <a:endParaRPr lang="en-US" sz="122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</a:rPr>
                        <a:t>CCAFS LC-40: 26 • CCAFS SLC-40: 34 • KSC LC-39A: 16 • VAFB SLC-4E: 25</a:t>
                      </a:r>
                      <a:endParaRPr lang="en-US" sz="122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206240" y="55595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These outputs aligned the SQL notebook with the same story seen in the plots: payload profile, launch site, and landing context all matter.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map results using Folium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Geospatial analysis showed that SpaceX launch sites are positioned along the coast, balancing safety requirements with orbital access.</a:t>
            </a:r>
            <a:endParaRPr lang="en-US" sz="1130" dirty="0"/>
          </a:p>
        </p:txBody>
      </p:sp>
      <p:pic>
        <p:nvPicPr>
          <p:cNvPr id="4" name="Image 0" descr="/mnt/data/pres_assets/launch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43176"/>
            <a:ext cx="6400800" cy="45660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60920" y="1463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Location-based observations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0" y="1783080"/>
            <a:ext cx="379476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5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analyzed launch sites are coastal, which reduces risk over populated areas and supports targeted orbital paths.</a:t>
            </a:r>
            <a:endParaRPr lang="en-US" sz="1560" dirty="0"/>
          </a:p>
          <a:p>
            <a:pPr marL="203200" indent="-203200">
              <a:buSzPct val="100000"/>
              <a:buChar char="•"/>
            </a:pPr>
            <a:r>
              <a:rPr lang="en-US" sz="15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KSC LC-39A and CCAFS SLC 40 cluster in Florida for eastward launches; VAFB SLC 4E supports polar / sun-synchronous trajectories from California.</a:t>
            </a:r>
            <a:endParaRPr lang="en-US" sz="1560" dirty="0"/>
          </a:p>
          <a:p>
            <a:pPr marL="203200" indent="-203200">
              <a:buSzPct val="100000"/>
              <a:buChar char="•"/>
            </a:pPr>
            <a:r>
              <a:rPr lang="en-US" sz="15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Mapped markers make site comparisons more intuitive than a table alone and help explain why geography belongs in the business story.</a:t>
            </a:r>
            <a:endParaRPr lang="en-US" sz="1560" dirty="0"/>
          </a:p>
        </p:txBody>
      </p:sp>
      <p:sp>
        <p:nvSpPr>
          <p:cNvPr id="7" name="Shape 4"/>
          <p:cNvSpPr/>
          <p:nvPr/>
        </p:nvSpPr>
        <p:spPr>
          <a:xfrm>
            <a:off x="7370064" y="4069080"/>
            <a:ext cx="3611880" cy="1207008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71232" y="42702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Site snapshot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71232" y="45445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CCAFS SLC 40: 55 launches, 60% success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KSC LC 39A: 22 launches, 77% success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VAFB SLC 4E: 13 launches, 77% success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Plotly Dash dashboard results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turned the same launch data into an exploratory interface with filters for launch site and payload range.</a:t>
            </a:r>
            <a:endParaRPr lang="en-US" sz="1130" dirty="0"/>
          </a:p>
        </p:txBody>
      </p:sp>
      <p:pic>
        <p:nvPicPr>
          <p:cNvPr id="4" name="Image 0" descr="/mnt/data/pres_assets/dashboard_compo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0297" y="1371600"/>
            <a:ext cx="7337502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72414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What the dashboard adds: the dropdown isolates one site or compares all sites at once, and the payload slider turns the app into a quick "what range works best?" diagnostic.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analysis methodology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classification stage converted the cleaned launch data into 80 numeric features and used model selection to compare multiple algorithms.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361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5361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Feature engineering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810512"/>
            <a:ext cx="17190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One-hot encoded Orbit, LaunchSite, LandingPad, and Serial to create 80 numeric inputs.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14630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5361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5361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Preprocess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19272" y="1810512"/>
            <a:ext cx="16733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StandardScaler applied before model fitting.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40680" y="14630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0408" y="15361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0" y="1536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Split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05272" y="1810512"/>
            <a:ext cx="181051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Train/test split with 20% test data (72/18 rows).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63840" y="14630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3568" y="15361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15361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Tune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28432" y="1810512"/>
            <a:ext cx="176479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10-fold GridSearchCV for logistic regression, SVM, decision tree, and KNN.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24128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51008" y="15361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44200" y="15361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Score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405872" y="1810512"/>
            <a:ext cx="8046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Compare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07792" y="1737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230368" y="1737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16952" y="1737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12680" y="1737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pic>
        <p:nvPicPr>
          <p:cNvPr id="28" name="Image 0" descr="/mnt/data/pres_assets/svm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745" y="2971800"/>
            <a:ext cx="2861109" cy="26517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480560" y="3063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Modeling details worth calling out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434840" y="3383280"/>
            <a:ext cx="662940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course notebook’s best SVM kernel on validation was sigmoid.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course run reported 83.33% decision-tree test accuracy; reruns can shift because the tree search includes randomized settings.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a held-out test set keeps the final score more honest than relying on cross-validation alone.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analysis results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comparison showed that the project’s engineered features capture enough signal to support practical landing-success predictions.</a:t>
            </a:r>
            <a:endParaRPr lang="en-US" sz="1130" dirty="0"/>
          </a:p>
        </p:txBody>
      </p:sp>
      <p:pic>
        <p:nvPicPr>
          <p:cNvPr id="4" name="Image 0" descr="/mnt/data/pres_assets/model_sc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54609"/>
            <a:ext cx="6583680" cy="449742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1732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82128" y="1645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Best validation model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882128" y="1892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SVM with sigmoid kernel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35240" y="265176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82128" y="2880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Headline benchmark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882128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83.33% course test accuracy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699248" y="40690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</a:rPr>
              <a:t>Interpretation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635240" y="4343400"/>
            <a:ext cx="36576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feature set built from site, orbit, payload, and booster context is enough to produce robust predictions on this dataset.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best understood as a decision-support tool: it highlights conditions associated with success rather than replacing mission engineering.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recommendations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capstone tells a coherent operational story: landing success is learnable, explainable, and actionable when the right features are assembled.</a:t>
            </a:r>
            <a:endParaRPr lang="en-US" sz="113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What the project demonstrated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39496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launch data can be cleaned into a clear supervised-learning problem without losing the operational meaning of the records.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plots, SQL summaries, map views, and dashboards each surfaced different parts of the same story and reinforced one another.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made the story predictive by translating the cleaned signals into an 83%+ benchmark on the course test workflow.</a:t>
            </a:r>
            <a:endParaRPr lang="en-US" sz="158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325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Most important practical insight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45994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2E8F0"/>
                </a:solidFill>
              </a:rPr>
              <a:t>Success is not driven by payload alone. Launch site, orbit, and mission context determine whether a payload profile is recoverable.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37960" y="1417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Suggested next steps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457200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newer launch data and retrain the classification pipeline on a refreshed sample.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more explainability methods (feature importance, SHAP) to show why the model predicts success or failure for a given mission.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the dashboard with model predictions so stakeholders can interact with both descriptive and predictive views in one place.</a:t>
            </a:r>
            <a:endParaRPr lang="en-US" sz="1550" dirty="0"/>
          </a:p>
        </p:txBody>
      </p:sp>
      <p:pic>
        <p:nvPicPr>
          <p:cNvPr id="11" name="Image 0" descr="/mnt/data/pres_assets/site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9327" y="3794760"/>
            <a:ext cx="3226386" cy="1874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checklist and deliverables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final slide makes the IBM rubric actionable before you export to PDF and submit.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074920" cy="18288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190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Add your GitHub repository link before submission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103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63EB"/>
                </a:solidFill>
              </a:rPr>
              <a:t>Replace this placeholder with the repository that contains all completed notebooks and Python files: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63EB"/>
                </a:solidFill>
              </a:rPr>
              <a:t>https://github.com/&lt;your-username&gt;/&lt;your-spacex-capstone-repo&gt;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Final export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75488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deck once in PowerPoint or LibreOffice and verify that images, notes, and slide numbers are intact.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the presentation to PDF and upload the PDF, not the PPTX, if the rubric requires PDF for grading.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notebooks / scripts in your GitHub repo so the submission has both the report and the reproducible work.</a:t>
            </a:r>
            <a:endParaRPr lang="en-US" sz="15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749040"/>
          <a:ext cx="512064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FFFFFF"/>
                          </a:solidFill>
                        </a:rPr>
                        <a:t>Rubric item</a:t>
                      </a:r>
                      <a:endParaRPr lang="en-US" sz="124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FFFFFF"/>
                          </a:solidFill>
                        </a:rPr>
                        <a:t>Covered in deck</a:t>
                      </a:r>
                      <a:endParaRPr lang="en-US" sz="124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111827"/>
                          </a:solidFill>
                        </a:rPr>
                        <a:t>Executive summary + introduction</a:t>
                      </a:r>
                      <a:endParaRPr lang="en-US" sz="124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111827"/>
                          </a:solidFill>
                        </a:rPr>
                        <a:t>Slides 2-3</a:t>
                      </a:r>
                      <a:endParaRPr lang="en-US" sz="124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111827"/>
                          </a:solidFill>
                        </a:rPr>
                        <a:t>Collection / wrangling methodology</a:t>
                      </a:r>
                      <a:endParaRPr lang="en-US" sz="124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111827"/>
                          </a:solidFill>
                        </a:rPr>
                        <a:t>Slides 4-5</a:t>
                      </a:r>
                      <a:endParaRPr lang="en-US" sz="124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111827"/>
                          </a:solidFill>
                        </a:rPr>
                        <a:t>EDA / SQL / map / dashboard results</a:t>
                      </a:r>
                      <a:endParaRPr lang="en-US" sz="124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111827"/>
                          </a:solidFill>
                        </a:rPr>
                        <a:t>Slides 6-10</a:t>
                      </a:r>
                      <a:endParaRPr lang="en-US" sz="124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111827"/>
                          </a:solidFill>
                        </a:rPr>
                        <a:t>Predictive analysis methodology + results</a:t>
                      </a:r>
                      <a:endParaRPr lang="en-US" sz="124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111827"/>
                          </a:solidFill>
                        </a:rPr>
                        <a:t>Slides 11-12</a:t>
                      </a:r>
                      <a:endParaRPr lang="en-US" sz="124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111827"/>
                          </a:solidFill>
                        </a:rPr>
                        <a:t>Conclusion + creativity / insights</a:t>
                      </a:r>
                      <a:endParaRPr lang="en-US" sz="124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111827"/>
                          </a:solidFill>
                        </a:rPr>
                        <a:t>Slide 13</a:t>
                      </a:r>
                      <a:endParaRPr lang="en-US" sz="124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3749040"/>
            <a:ext cx="4754880" cy="1554480"/>
          </a:xfrm>
          <a:prstGeom prst="roundRect">
            <a:avLst>
              <a:gd name="adj" fmla="val 35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Ready-to-submit package from this workspace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2E8F0"/>
                </a:solidFill>
              </a:rPr>
              <a:t>• Final PowerPoint presentation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2E8F0"/>
                </a:solidFill>
              </a:rPr>
              <a:t>• Matching PDF export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2E8F0"/>
                </a:solidFill>
              </a:rPr>
              <a:t>• User-updated notebooks and generated visuals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Launch Success Prediction</dc:title>
  <dc:subject>IBM Applied Data Science Capstone - SpaceX launch analysis</dc:subject>
  <dc:creator>OpenAI</dc:creator>
  <cp:lastModifiedBy>OpenAI</cp:lastModifiedBy>
  <cp:revision>1</cp:revision>
  <dcterms:created xsi:type="dcterms:W3CDTF">2026-03-30T10:14:59Z</dcterms:created>
  <dcterms:modified xsi:type="dcterms:W3CDTF">2026-03-30T10:14:59Z</dcterms:modified>
</cp:coreProperties>
</file>